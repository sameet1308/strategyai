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963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274320"/>
          </a:xfrm>
          <a:prstGeom prst="rect">
            <a:avLst/>
          </a:prstGeom>
          <a:noFill/>
          <a:ln/>
        </p:spPr>
        <p:txBody>
          <a:bodyPr wrap="square" lIns="0" tIns="0" rIns="0" bIns="0" rtlCol="0" anchor="ctr"/>
          <a:lstStyle/>
          <a:p>
            <a:pPr marL="0" indent="0">
              <a:buNone/>
            </a:pPr>
            <a:r>
              <a:rPr lang="en-US" sz="1000" b="1" kern="0" spc="400" dirty="0">
                <a:solidFill>
                  <a:srgbClr val="6B7280"/>
                </a:solidFill>
                <a:latin typeface="Calibri" pitchFamily="34" charset="0"/>
                <a:ea typeface="Calibri" pitchFamily="34" charset="-122"/>
                <a:cs typeface="Calibri" pitchFamily="34" charset="-120"/>
              </a:rPr>
              <a:t>STRATEGY AI BOT FRAMEWORK</a:t>
            </a:r>
            <a:endParaRPr lang="en-US" sz="1000" dirty="0"/>
          </a:p>
        </p:txBody>
      </p:sp>
      <p:sp>
        <p:nvSpPr>
          <p:cNvPr id="3" name="Shape 1"/>
          <p:cNvSpPr/>
          <p:nvPr/>
        </p:nvSpPr>
        <p:spPr>
          <a:xfrm>
            <a:off x="548640" y="777240"/>
            <a:ext cx="11064240" cy="10973"/>
          </a:xfrm>
          <a:prstGeom prst="rect">
            <a:avLst/>
          </a:prstGeom>
          <a:solidFill>
            <a:srgbClr val="D1D5DB"/>
          </a:solidFill>
          <a:ln w="12700">
            <a:solidFill>
              <a:srgbClr val="D1D5DB"/>
            </a:solidFill>
            <a:prstDash val="solid"/>
          </a:ln>
        </p:spPr>
      </p:sp>
      <p:sp>
        <p:nvSpPr>
          <p:cNvPr id="4" name="Text 2"/>
          <p:cNvSpPr/>
          <p:nvPr/>
        </p:nvSpPr>
        <p:spPr>
          <a:xfrm>
            <a:off x="548640" y="2377440"/>
            <a:ext cx="11064240" cy="822960"/>
          </a:xfrm>
          <a:prstGeom prst="rect">
            <a:avLst/>
          </a:prstGeom>
          <a:noFill/>
          <a:ln/>
        </p:spPr>
        <p:txBody>
          <a:bodyPr wrap="square" lIns="0" tIns="0" rIns="0" bIns="0" rtlCol="0" anchor="ctr"/>
          <a:lstStyle/>
          <a:p>
            <a:pPr marL="0" indent="0">
              <a:buNone/>
            </a:pPr>
            <a:r>
              <a:rPr lang="en-US" sz="3600" b="1" dirty="0">
                <a:solidFill>
                  <a:srgbClr val="1F3A5F"/>
                </a:solidFill>
                <a:latin typeface="Calibri" pitchFamily="34" charset="0"/>
                <a:ea typeface="Calibri" pitchFamily="34" charset="-122"/>
                <a:cs typeface="Calibri" pitchFamily="34" charset="-120"/>
              </a:rPr>
              <a:t>Operations and Business Deliverables</a:t>
            </a:r>
            <a:endParaRPr lang="en-US" sz="3600" dirty="0"/>
          </a:p>
        </p:txBody>
      </p:sp>
      <p:sp>
        <p:nvSpPr>
          <p:cNvPr id="5" name="Text 3"/>
          <p:cNvSpPr/>
          <p:nvPr/>
        </p:nvSpPr>
        <p:spPr>
          <a:xfrm>
            <a:off x="548640" y="3337560"/>
            <a:ext cx="11064240" cy="548640"/>
          </a:xfrm>
          <a:prstGeom prst="rect">
            <a:avLst/>
          </a:prstGeom>
          <a:noFill/>
          <a:ln/>
        </p:spPr>
        <p:txBody>
          <a:bodyPr wrap="square" lIns="0" tIns="0" rIns="0" bIns="0" rtlCol="0" anchor="ctr"/>
          <a:lstStyle/>
          <a:p>
            <a:pPr marL="0" indent="0">
              <a:buNone/>
            </a:pPr>
            <a:r>
              <a:rPr lang="en-US" sz="1600" dirty="0">
                <a:solidFill>
                  <a:srgbClr val="374151"/>
                </a:solidFill>
                <a:latin typeface="Calibri" pitchFamily="34" charset="0"/>
                <a:ea typeface="Calibri" pitchFamily="34" charset="-122"/>
                <a:cs typeface="Calibri" pitchFamily="34" charset="-120"/>
              </a:rPr>
              <a:t>What the framework does in MicroStrategy, and what business users get as a result.</a:t>
            </a:r>
            <a:endParaRPr lang="en-US" sz="1600" dirty="0"/>
          </a:p>
        </p:txBody>
      </p:sp>
      <p:sp>
        <p:nvSpPr>
          <p:cNvPr id="6" name="Text 4"/>
          <p:cNvSpPr/>
          <p:nvPr/>
        </p:nvSpPr>
        <p:spPr>
          <a:xfrm>
            <a:off x="548640" y="5440680"/>
            <a:ext cx="914400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Built on AWS (Amazon Bedrock + FastAPI + React)</a:t>
            </a:r>
            <a:endParaRPr lang="en-US" sz="1200" dirty="0"/>
          </a:p>
          <a:p>
            <a:pPr marL="342900" indent="-3429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Supports 25+ MicroStrategy operational scenarios</a:t>
            </a:r>
            <a:endParaRPr lang="en-US" sz="1200" dirty="0"/>
          </a:p>
          <a:p>
            <a:pPr marL="342900" indent="-342900">
              <a:spcAft>
                <a:spcPts val="400"/>
              </a:spcAft>
              <a:buSzPct val="100000"/>
              <a:buChar char="•"/>
            </a:pPr>
            <a:r>
              <a:rPr lang="en-US" sz="1200" dirty="0">
                <a:solidFill>
                  <a:srgbClr val="374151"/>
                </a:solidFill>
                <a:latin typeface="Calibri" pitchFamily="34" charset="0"/>
                <a:ea typeface="Calibri" pitchFamily="34" charset="-122"/>
                <a:cs typeface="Calibri" pitchFamily="34" charset="-120"/>
              </a:rPr>
              <a:t>In production today; expanding scope of operations covered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STRATEGY AI BOT FRAMEWORK</a:t>
            </a:r>
            <a:endParaRPr lang="en-US" sz="900" dirty="0"/>
          </a:p>
        </p:txBody>
      </p:sp>
      <p:sp>
        <p:nvSpPr>
          <p:cNvPr id="3" name="Text 1"/>
          <p:cNvSpPr/>
          <p:nvPr/>
        </p:nvSpPr>
        <p:spPr>
          <a:xfrm>
            <a:off x="548640" y="749808"/>
            <a:ext cx="11064240" cy="274320"/>
          </a:xfrm>
          <a:prstGeom prst="rect">
            <a:avLst/>
          </a:prstGeom>
          <a:noFill/>
          <a:ln/>
        </p:spPr>
        <p:txBody>
          <a:bodyPr wrap="square" lIns="0" tIns="0" rIns="0" bIns="0" rtlCol="0" anchor="ctr"/>
          <a:lstStyle/>
          <a:p>
            <a:pPr marL="0" indent="0">
              <a:buNone/>
            </a:pPr>
            <a:r>
              <a:rPr lang="en-US" sz="1100" dirty="0">
                <a:solidFill>
                  <a:srgbClr val="2E5C8A"/>
                </a:solidFill>
                <a:latin typeface="Calibri" pitchFamily="34" charset="0"/>
                <a:ea typeface="Calibri" pitchFamily="34" charset="-122"/>
                <a:cs typeface="Calibri" pitchFamily="34" charset="-120"/>
              </a:rPr>
              <a:t>Section 1  ·  Background</a:t>
            </a:r>
            <a:endParaRPr lang="en-US" sz="1100" dirty="0"/>
          </a:p>
        </p:txBody>
      </p:sp>
      <p:sp>
        <p:nvSpPr>
          <p:cNvPr id="4" name="Text 2"/>
          <p:cNvSpPr/>
          <p:nvPr/>
        </p:nvSpPr>
        <p:spPr>
          <a:xfrm>
            <a:off x="548640" y="1051560"/>
            <a:ext cx="11064240" cy="502920"/>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What the Strategy AI BOT Framework is</a:t>
            </a:r>
            <a:endParaRPr lang="en-US" sz="2600" dirty="0"/>
          </a:p>
        </p:txBody>
      </p:sp>
      <p:sp>
        <p:nvSpPr>
          <p:cNvPr id="5" name="Shape 3"/>
          <p:cNvSpPr/>
          <p:nvPr/>
        </p:nvSpPr>
        <p:spPr>
          <a:xfrm>
            <a:off x="548640" y="1627632"/>
            <a:ext cx="11064240" cy="10973"/>
          </a:xfrm>
          <a:prstGeom prst="rect">
            <a:avLst/>
          </a:prstGeom>
          <a:solidFill>
            <a:srgbClr val="D1D5DB"/>
          </a:solidFill>
          <a:ln w="12700">
            <a:solidFill>
              <a:srgbClr val="D1D5DB"/>
            </a:solidFill>
            <a:prstDash val="solid"/>
          </a:ln>
        </p:spPr>
      </p:sp>
      <p:sp>
        <p:nvSpPr>
          <p:cNvPr id="6" name="Text 4"/>
          <p:cNvSpPr/>
          <p:nvPr/>
        </p:nvSpPr>
        <p:spPr>
          <a:xfrm>
            <a:off x="548640" y="1874520"/>
            <a:ext cx="11064240" cy="777240"/>
          </a:xfrm>
          <a:prstGeom prst="rect">
            <a:avLst/>
          </a:prstGeom>
          <a:noFill/>
          <a:ln/>
        </p:spPr>
        <p:txBody>
          <a:bodyPr wrap="square" lIns="0" tIns="0" rIns="0" bIns="0" rtlCol="0" anchor="ctr"/>
          <a:lstStyle/>
          <a:p>
            <a:pPr marL="0" indent="0">
              <a:buNone/>
            </a:pPr>
            <a:r>
              <a:rPr lang="en-US" sz="1400" dirty="0">
                <a:solidFill>
                  <a:srgbClr val="374151"/>
                </a:solidFill>
                <a:latin typeface="Calibri" pitchFamily="34" charset="0"/>
                <a:ea typeface="Calibri" pitchFamily="34" charset="-122"/>
                <a:cs typeface="Calibri" pitchFamily="34" charset="-120"/>
              </a:rPr>
              <a:t>The Strategy AI BOT Framework is an AI-based application that performs MicroStrategy operations through a conversational interface. It connects to MicroStrategy using the platform's REST APIs.</a:t>
            </a:r>
            <a:endParaRPr lang="en-US" sz="1400" dirty="0"/>
          </a:p>
        </p:txBody>
      </p:sp>
      <p:sp>
        <p:nvSpPr>
          <p:cNvPr id="7" name="Text 5"/>
          <p:cNvSpPr/>
          <p:nvPr/>
        </p:nvSpPr>
        <p:spPr>
          <a:xfrm>
            <a:off x="548640" y="2743200"/>
            <a:ext cx="11064240" cy="365760"/>
          </a:xfrm>
          <a:prstGeom prst="rect">
            <a:avLst/>
          </a:prstGeom>
          <a:noFill/>
          <a:ln/>
        </p:spPr>
        <p:txBody>
          <a:bodyPr wrap="square" lIns="0" tIns="0" rIns="0" bIns="0" rtlCol="0" anchor="ctr"/>
          <a:lstStyle/>
          <a:p>
            <a:pPr marL="0" indent="0">
              <a:buNone/>
            </a:pPr>
            <a:r>
              <a:rPr lang="en-US" sz="1400" dirty="0">
                <a:solidFill>
                  <a:srgbClr val="374151"/>
                </a:solidFill>
                <a:latin typeface="Calibri" pitchFamily="34" charset="0"/>
                <a:ea typeface="Calibri" pitchFamily="34" charset="-122"/>
                <a:cs typeface="Calibri" pitchFamily="34" charset="-120"/>
              </a:rPr>
              <a:t>It currently covers more than 25 operational scenarios. These fall into the following operation areas:</a:t>
            </a:r>
            <a:endParaRPr lang="en-US" sz="1400" dirty="0"/>
          </a:p>
        </p:txBody>
      </p:sp>
      <p:sp>
        <p:nvSpPr>
          <p:cNvPr id="8" name="Text 6"/>
          <p:cNvSpPr/>
          <p:nvPr/>
        </p:nvSpPr>
        <p:spPr>
          <a:xfrm>
            <a:off x="777240" y="3246120"/>
            <a:ext cx="5303520" cy="182880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Subscriptions (email and file delivery)</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Cube refreshes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Schedule management</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Report execution and diagnostics</a:t>
            </a:r>
            <a:endParaRPr lang="en-US" sz="1300" dirty="0"/>
          </a:p>
        </p:txBody>
      </p:sp>
      <p:sp>
        <p:nvSpPr>
          <p:cNvPr id="9" name="Text 7"/>
          <p:cNvSpPr/>
          <p:nvPr/>
        </p:nvSpPr>
        <p:spPr>
          <a:xfrm>
            <a:off x="6400800" y="3246120"/>
            <a:ext cx="5303520" cy="182880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User and group access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Security (ACL) audits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Cache and performance management</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Metadata, dependencies, and lineage</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Schema and report objects (attributes, metrics, templates)</a:t>
            </a:r>
            <a:endParaRPr lang="en-US" sz="1300" dirty="0"/>
          </a:p>
        </p:txBody>
      </p:sp>
      <p:sp>
        <p:nvSpPr>
          <p:cNvPr id="10" name="Shape 8"/>
          <p:cNvSpPr/>
          <p:nvPr/>
        </p:nvSpPr>
        <p:spPr>
          <a:xfrm>
            <a:off x="548640" y="5349240"/>
            <a:ext cx="11064240" cy="960120"/>
          </a:xfrm>
          <a:prstGeom prst="rect">
            <a:avLst/>
          </a:prstGeom>
          <a:solidFill>
            <a:srgbClr val="F3F4F6"/>
          </a:solidFill>
          <a:ln w="6350">
            <a:solidFill>
              <a:srgbClr val="D1D5DB"/>
            </a:solidFill>
            <a:prstDash val="solid"/>
          </a:ln>
        </p:spPr>
      </p:sp>
      <p:sp>
        <p:nvSpPr>
          <p:cNvPr id="11" name="Shape 9"/>
          <p:cNvSpPr/>
          <p:nvPr/>
        </p:nvSpPr>
        <p:spPr>
          <a:xfrm>
            <a:off x="548640" y="5349240"/>
            <a:ext cx="54864" cy="960120"/>
          </a:xfrm>
          <a:prstGeom prst="rect">
            <a:avLst/>
          </a:prstGeom>
          <a:solidFill>
            <a:srgbClr val="2E5C8A"/>
          </a:solidFill>
          <a:ln w="12700">
            <a:solidFill>
              <a:srgbClr val="2E5C8A"/>
            </a:solidFill>
            <a:prstDash val="solid"/>
          </a:ln>
        </p:spPr>
      </p:sp>
      <p:sp>
        <p:nvSpPr>
          <p:cNvPr id="12" name="Text 10"/>
          <p:cNvSpPr/>
          <p:nvPr/>
        </p:nvSpPr>
        <p:spPr>
          <a:xfrm>
            <a:off x="777240" y="5349240"/>
            <a:ext cx="10744200" cy="96012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Why these operations matter to the business: </a:t>
            </a:r>
            <a:r>
              <a:rPr lang="en-US" sz="1200" dirty="0">
                <a:solidFill>
                  <a:srgbClr val="374151"/>
                </a:solidFill>
                <a:latin typeface="Calibri" pitchFamily="34" charset="0"/>
                <a:ea typeface="Calibri" pitchFamily="34" charset="-122"/>
                <a:cs typeface="Calibri" pitchFamily="34" charset="-120"/>
              </a:rPr>
              <a:t>These are the operations that decide whether subscriptions deliver on time, whether dashboards show today's data in the morning meeting, whether new business users can log in on day one, and whether routine business reporting runs to schedule.</a:t>
            </a:r>
            <a:endParaRPr lang="en-US" sz="1200" dirty="0"/>
          </a:p>
        </p:txBody>
      </p:sp>
      <p:sp>
        <p:nvSpPr>
          <p:cNvPr id="13" name="Text 11"/>
          <p:cNvSpPr/>
          <p:nvPr/>
        </p:nvSpPr>
        <p:spPr>
          <a:xfrm>
            <a:off x="548640" y="6492240"/>
            <a:ext cx="8686800" cy="228600"/>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Strategy AI BOT Framework  |  Operations and Business Deliverables</a:t>
            </a:r>
            <a:endParaRPr lang="en-US" sz="800" dirty="0"/>
          </a:p>
        </p:txBody>
      </p:sp>
      <p:sp>
        <p:nvSpPr>
          <p:cNvPr id="14" name="Text 12"/>
          <p:cNvSpPr/>
          <p:nvPr/>
        </p:nvSpPr>
        <p:spPr>
          <a:xfrm>
            <a:off x="10698480" y="6492240"/>
            <a:ext cx="914400" cy="228600"/>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Page 2 of 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STRATEGY AI BOT FRAMEWORK</a:t>
            </a:r>
            <a:endParaRPr lang="en-US" sz="900" dirty="0"/>
          </a:p>
        </p:txBody>
      </p:sp>
      <p:sp>
        <p:nvSpPr>
          <p:cNvPr id="3" name="Text 1"/>
          <p:cNvSpPr/>
          <p:nvPr/>
        </p:nvSpPr>
        <p:spPr>
          <a:xfrm>
            <a:off x="548640" y="749808"/>
            <a:ext cx="11064240" cy="274320"/>
          </a:xfrm>
          <a:prstGeom prst="rect">
            <a:avLst/>
          </a:prstGeom>
          <a:noFill/>
          <a:ln/>
        </p:spPr>
        <p:txBody>
          <a:bodyPr wrap="square" lIns="0" tIns="0" rIns="0" bIns="0" rtlCol="0" anchor="ctr"/>
          <a:lstStyle/>
          <a:p>
            <a:pPr marL="0" indent="0">
              <a:buNone/>
            </a:pPr>
            <a:r>
              <a:rPr lang="en-US" sz="1100" dirty="0">
                <a:solidFill>
                  <a:srgbClr val="2E5C8A"/>
                </a:solidFill>
                <a:latin typeface="Calibri" pitchFamily="34" charset="0"/>
                <a:ea typeface="Calibri" pitchFamily="34" charset="-122"/>
                <a:cs typeface="Calibri" pitchFamily="34" charset="-120"/>
              </a:rPr>
              <a:t>Section 2  ·  Operations and Business Deliverables</a:t>
            </a:r>
            <a:endParaRPr lang="en-US" sz="1100" dirty="0"/>
          </a:p>
        </p:txBody>
      </p:sp>
      <p:sp>
        <p:nvSpPr>
          <p:cNvPr id="4" name="Text 2"/>
          <p:cNvSpPr/>
          <p:nvPr/>
        </p:nvSpPr>
        <p:spPr>
          <a:xfrm>
            <a:off x="548640" y="1051560"/>
            <a:ext cx="11064240" cy="502920"/>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Operations performed and what the business gets</a:t>
            </a:r>
            <a:endParaRPr lang="en-US" sz="2600" dirty="0"/>
          </a:p>
        </p:txBody>
      </p:sp>
      <p:sp>
        <p:nvSpPr>
          <p:cNvPr id="5" name="Shape 3"/>
          <p:cNvSpPr/>
          <p:nvPr/>
        </p:nvSpPr>
        <p:spPr>
          <a:xfrm>
            <a:off x="548640" y="1627632"/>
            <a:ext cx="11064240" cy="10973"/>
          </a:xfrm>
          <a:prstGeom prst="rect">
            <a:avLst/>
          </a:prstGeom>
          <a:solidFill>
            <a:srgbClr val="D1D5DB"/>
          </a:solidFill>
          <a:ln w="12700">
            <a:solidFill>
              <a:srgbClr val="D1D5D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4389120"/>
        </p:xfrm>
        <a:graphic>
          <a:graphicData uri="http://schemas.openxmlformats.org/drawingml/2006/table">
            <a:tbl>
              <a:tblPr/>
              <a:tblGrid>
                <a:gridCol w="21945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3891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MicroStrategy Operation</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the framework does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Business deliverable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Subscriptions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View, edit, restart, and troubleshoot scheduled email and file subscriptions.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Daily, weekly, and monthly reports reach business users on time.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Cube refreshes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Trigger cube refreshes, monitor status, and restart failed refreshes.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Dashboards show current data when business decisions are made.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Schedule management</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Review, modify, pause, and restart scheduled jobs.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Recurring business reports run on the schedule the business expects.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Report execution &amp; diagnostics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Investigate report failures and identify long-running reports.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Business users get their reports without waiting hours for help.</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4"/>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User &amp; group access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Add users, manage groups, assign privileges, apply security filters.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New business users start consuming analytics on day one.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Security (ACL) audits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Audit access control lists and identify permission gaps.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Business users see exactly the data they are entitled to.</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6"/>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Cache &amp; performance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View cache state and invalidate caches when needed.</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Reports and dashboards load quickly for business users.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Metadata &amp; lineage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Look up object dependencies and downstream impact of changes.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Changes to data or definitions do not silently break business reports.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8"/>
                  </a:ext>
                </a:extLst>
              </a:tr>
              <a:tr h="438912">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Schema &amp; report objects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Create and update attributes, metrics, hierarchies, and report templates via the Modeling Service.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New reports and dashboards reach business users faster after a request.</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4"/>
          <p:cNvSpPr/>
          <p:nvPr/>
        </p:nvSpPr>
        <p:spPr>
          <a:xfrm>
            <a:off x="548640" y="6492240"/>
            <a:ext cx="8686800" cy="228600"/>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Strategy AI BOT Framework  |  Operations and Business Deliverables</a:t>
            </a:r>
            <a:endParaRPr lang="en-US" sz="800" dirty="0"/>
          </a:p>
        </p:txBody>
      </p:sp>
      <p:sp>
        <p:nvSpPr>
          <p:cNvPr id="8" name="Text 5"/>
          <p:cNvSpPr/>
          <p:nvPr/>
        </p:nvSpPr>
        <p:spPr>
          <a:xfrm>
            <a:off x="10698480" y="6492240"/>
            <a:ext cx="914400" cy="228600"/>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Page 3 of 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STRATEGY AI BOT FRAMEWORK</a:t>
            </a:r>
            <a:endParaRPr lang="en-US" sz="900" dirty="0"/>
          </a:p>
        </p:txBody>
      </p:sp>
      <p:sp>
        <p:nvSpPr>
          <p:cNvPr id="3" name="Text 1"/>
          <p:cNvSpPr/>
          <p:nvPr/>
        </p:nvSpPr>
        <p:spPr>
          <a:xfrm>
            <a:off x="548640" y="749808"/>
            <a:ext cx="11064240" cy="274320"/>
          </a:xfrm>
          <a:prstGeom prst="rect">
            <a:avLst/>
          </a:prstGeom>
          <a:noFill/>
          <a:ln/>
        </p:spPr>
        <p:txBody>
          <a:bodyPr wrap="square" lIns="0" tIns="0" rIns="0" bIns="0" rtlCol="0" anchor="ctr"/>
          <a:lstStyle/>
          <a:p>
            <a:pPr marL="0" indent="0">
              <a:buNone/>
            </a:pPr>
            <a:r>
              <a:rPr lang="en-US" sz="1100" dirty="0">
                <a:solidFill>
                  <a:srgbClr val="2E5C8A"/>
                </a:solidFill>
                <a:latin typeface="Calibri" pitchFamily="34" charset="0"/>
                <a:ea typeface="Calibri" pitchFamily="34" charset="-122"/>
                <a:cs typeface="Calibri" pitchFamily="34" charset="-120"/>
              </a:rPr>
              <a:t>Section 3  ·  Technology</a:t>
            </a:r>
            <a:endParaRPr lang="en-US" sz="1100" dirty="0"/>
          </a:p>
        </p:txBody>
      </p:sp>
      <p:sp>
        <p:nvSpPr>
          <p:cNvPr id="4" name="Text 2"/>
          <p:cNvSpPr/>
          <p:nvPr/>
        </p:nvSpPr>
        <p:spPr>
          <a:xfrm>
            <a:off x="548640" y="1051560"/>
            <a:ext cx="11064240" cy="502920"/>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AWS services used</a:t>
            </a:r>
            <a:endParaRPr lang="en-US" sz="2600" dirty="0"/>
          </a:p>
        </p:txBody>
      </p:sp>
      <p:sp>
        <p:nvSpPr>
          <p:cNvPr id="5" name="Shape 3"/>
          <p:cNvSpPr/>
          <p:nvPr/>
        </p:nvSpPr>
        <p:spPr>
          <a:xfrm>
            <a:off x="548640" y="1627632"/>
            <a:ext cx="11064240" cy="10973"/>
          </a:xfrm>
          <a:prstGeom prst="rect">
            <a:avLst/>
          </a:prstGeom>
          <a:solidFill>
            <a:srgbClr val="D1D5DB"/>
          </a:solidFill>
          <a:ln w="12700">
            <a:solidFill>
              <a:srgbClr val="D1D5DB"/>
            </a:solidFill>
            <a:prstDash val="solid"/>
          </a:ln>
        </p:spPr>
      </p:sp>
      <p:sp>
        <p:nvSpPr>
          <p:cNvPr id="6" name="Text 4"/>
          <p:cNvSpPr/>
          <p:nvPr/>
        </p:nvSpPr>
        <p:spPr>
          <a:xfrm>
            <a:off x="548640" y="1828800"/>
            <a:ext cx="11064240" cy="41148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The framework runs on AWS. Components below are listed by their role in the application.</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AWS Service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AI / Foundation Model</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Amazon Bedrock</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Runs the AI model that interprets requests and generates responses.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Application</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FastAPI (Python)</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Backend that handles requests and calls MicroStrategy REST APIs.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User Interface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React (Vite)</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Conversational interface delivered through AWS edge services.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Security</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AWS WAF</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Perimeter protection and rate limiting.</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Security</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AWS IAM</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Access control across AWS services and resources.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Security</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AWS Secrets Manager</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Stores credentials and API tokens.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6"/>
                  </a:ext>
                </a:extLst>
              </a:tr>
              <a:tr h="457200">
                <a:tc>
                  <a:txBody>
                    <a:bodyPr/>
                    <a:lstStyle/>
                    <a:p>
                      <a:pPr marL="0" indent="0">
                        <a:buNone/>
                      </a:pPr>
                      <a:r>
                        <a:rPr lang="en-US" sz="1100" b="1" dirty="0">
                          <a:solidFill>
                            <a:srgbClr val="1F3A5F"/>
                          </a:solidFill>
                          <a:latin typeface="Calibri" pitchFamily="34" charset="0"/>
                          <a:ea typeface="Calibri" pitchFamily="34" charset="-122"/>
                          <a:cs typeface="Calibri" pitchFamily="34" charset="-120"/>
                        </a:rPr>
                        <a:t>Observability</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Amazon CloudWatch</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latin typeface="Calibri" pitchFamily="34" charset="0"/>
                          <a:ea typeface="Calibri" pitchFamily="34" charset="-122"/>
                          <a:cs typeface="Calibri" pitchFamily="34" charset="-120"/>
                        </a:rPr>
                        <a:t>Logs, metrics, and alarms.</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Text 5"/>
          <p:cNvSpPr/>
          <p:nvPr/>
        </p:nvSpPr>
        <p:spPr>
          <a:xfrm>
            <a:off x="548640" y="6492240"/>
            <a:ext cx="8686800" cy="228600"/>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Strategy AI BOT Framework  |  Operations and Business Deliverables</a:t>
            </a:r>
            <a:endParaRPr lang="en-US" sz="800" dirty="0"/>
          </a:p>
        </p:txBody>
      </p:sp>
      <p:sp>
        <p:nvSpPr>
          <p:cNvPr id="9" name="Text 6"/>
          <p:cNvSpPr/>
          <p:nvPr/>
        </p:nvSpPr>
        <p:spPr>
          <a:xfrm>
            <a:off x="10698480" y="6492240"/>
            <a:ext cx="914400" cy="228600"/>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Page 4 of 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STRATEGY AI BOT FRAMEWORK</a:t>
            </a:r>
            <a:endParaRPr lang="en-US" sz="900" dirty="0"/>
          </a:p>
        </p:txBody>
      </p:sp>
      <p:sp>
        <p:nvSpPr>
          <p:cNvPr id="3" name="Text 1"/>
          <p:cNvSpPr/>
          <p:nvPr/>
        </p:nvSpPr>
        <p:spPr>
          <a:xfrm>
            <a:off x="548640" y="749808"/>
            <a:ext cx="11064240" cy="274320"/>
          </a:xfrm>
          <a:prstGeom prst="rect">
            <a:avLst/>
          </a:prstGeom>
          <a:noFill/>
          <a:ln/>
        </p:spPr>
        <p:txBody>
          <a:bodyPr wrap="square" lIns="0" tIns="0" rIns="0" bIns="0" rtlCol="0" anchor="ctr"/>
          <a:lstStyle/>
          <a:p>
            <a:pPr marL="0" indent="0">
              <a:buNone/>
            </a:pPr>
            <a:r>
              <a:rPr lang="en-US" sz="1100" dirty="0">
                <a:solidFill>
                  <a:srgbClr val="2E5C8A"/>
                </a:solidFill>
                <a:latin typeface="Calibri" pitchFamily="34" charset="0"/>
                <a:ea typeface="Calibri" pitchFamily="34" charset="-122"/>
                <a:cs typeface="Calibri" pitchFamily="34" charset="-120"/>
              </a:rPr>
              <a:t>Section 4  ·  Architecture</a:t>
            </a:r>
            <a:endParaRPr lang="en-US" sz="1100" dirty="0"/>
          </a:p>
        </p:txBody>
      </p:sp>
      <p:sp>
        <p:nvSpPr>
          <p:cNvPr id="4" name="Text 2"/>
          <p:cNvSpPr/>
          <p:nvPr/>
        </p:nvSpPr>
        <p:spPr>
          <a:xfrm>
            <a:off x="548640" y="1051560"/>
            <a:ext cx="11064240" cy="502920"/>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Solution architecture on AWS</a:t>
            </a:r>
            <a:endParaRPr lang="en-US" sz="2600" dirty="0"/>
          </a:p>
        </p:txBody>
      </p:sp>
      <p:sp>
        <p:nvSpPr>
          <p:cNvPr id="5" name="Shape 3"/>
          <p:cNvSpPr/>
          <p:nvPr/>
        </p:nvSpPr>
        <p:spPr>
          <a:xfrm>
            <a:off x="548640" y="1627632"/>
            <a:ext cx="11064240" cy="10973"/>
          </a:xfrm>
          <a:prstGeom prst="rect">
            <a:avLst/>
          </a:prstGeom>
          <a:solidFill>
            <a:srgbClr val="D1D5DB"/>
          </a:solidFill>
          <a:ln w="12700">
            <a:solidFill>
              <a:srgbClr val="D1D5DB"/>
            </a:solidFill>
            <a:prstDash val="solid"/>
          </a:ln>
        </p:spPr>
      </p:sp>
      <p:sp>
        <p:nvSpPr>
          <p:cNvPr id="6" name="Text 4"/>
          <p:cNvSpPr/>
          <p:nvPr/>
        </p:nvSpPr>
        <p:spPr>
          <a:xfrm>
            <a:off x="548640" y="182880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End-to-end view of the AWS-native architecture.</a:t>
            </a:r>
            <a:endParaRPr lang="en-US" sz="1300" dirty="0"/>
          </a:p>
        </p:txBody>
      </p:sp>
      <p:sp>
        <p:nvSpPr>
          <p:cNvPr id="7" name="Shape 5"/>
          <p:cNvSpPr/>
          <p:nvPr/>
        </p:nvSpPr>
        <p:spPr>
          <a:xfrm>
            <a:off x="548640" y="2331720"/>
            <a:ext cx="11064240" cy="3840480"/>
          </a:xfrm>
          <a:prstGeom prst="rect">
            <a:avLst/>
          </a:prstGeom>
          <a:solidFill>
            <a:srgbClr val="F3F4F6"/>
          </a:solidFill>
          <a:ln w="9525">
            <a:solidFill>
              <a:srgbClr val="D1D5DB"/>
            </a:solidFill>
            <a:prstDash val="dash"/>
          </a:ln>
        </p:spPr>
      </p:sp>
      <p:sp>
        <p:nvSpPr>
          <p:cNvPr id="8" name="Text 6"/>
          <p:cNvSpPr/>
          <p:nvPr/>
        </p:nvSpPr>
        <p:spPr>
          <a:xfrm>
            <a:off x="548640" y="3886200"/>
            <a:ext cx="11064240" cy="365760"/>
          </a:xfrm>
          <a:prstGeom prst="rect">
            <a:avLst/>
          </a:prstGeom>
          <a:no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Architecture diagram to be inserted</a:t>
            </a:r>
            <a:endParaRPr lang="en-US" sz="1600" dirty="0"/>
          </a:p>
        </p:txBody>
      </p:sp>
      <p:sp>
        <p:nvSpPr>
          <p:cNvPr id="9" name="Text 7"/>
          <p:cNvSpPr/>
          <p:nvPr/>
        </p:nvSpPr>
        <p:spPr>
          <a:xfrm>
            <a:off x="548640" y="4251960"/>
            <a:ext cx="11064240" cy="32004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Replace this placeholder with the approved AWS architecture diagram.</a:t>
            </a:r>
            <a:endParaRPr lang="en-US" sz="1100" dirty="0"/>
          </a:p>
        </p:txBody>
      </p:sp>
      <p:sp>
        <p:nvSpPr>
          <p:cNvPr id="10" name="Text 8"/>
          <p:cNvSpPr/>
          <p:nvPr/>
        </p:nvSpPr>
        <p:spPr>
          <a:xfrm>
            <a:off x="548640" y="6492240"/>
            <a:ext cx="8686800" cy="228600"/>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Strategy AI BOT Framework  |  Operations and Business Deliverables</a:t>
            </a:r>
            <a:endParaRPr lang="en-US" sz="800" dirty="0"/>
          </a:p>
        </p:txBody>
      </p:sp>
      <p:sp>
        <p:nvSpPr>
          <p:cNvPr id="11" name="Text 9"/>
          <p:cNvSpPr/>
          <p:nvPr/>
        </p:nvSpPr>
        <p:spPr>
          <a:xfrm>
            <a:off x="10698480" y="6492240"/>
            <a:ext cx="914400" cy="228600"/>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Page 5 of 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228600"/>
          </a:xfrm>
          <a:prstGeom prst="rect">
            <a:avLst/>
          </a:prstGeom>
          <a:noFill/>
          <a:ln/>
        </p:spPr>
        <p:txBody>
          <a:bodyPr wrap="square" lIns="0" tIns="0" rIns="0" bIns="0" rtlCol="0" anchor="ctr"/>
          <a:lstStyle/>
          <a:p>
            <a:pPr marL="0" indent="0">
              <a:buNone/>
            </a:pPr>
            <a:r>
              <a:rPr lang="en-US" sz="900" b="1" kern="0" spc="300" dirty="0">
                <a:solidFill>
                  <a:srgbClr val="6B7280"/>
                </a:solidFill>
                <a:latin typeface="Calibri" pitchFamily="34" charset="0"/>
                <a:ea typeface="Calibri" pitchFamily="34" charset="-122"/>
                <a:cs typeface="Calibri" pitchFamily="34" charset="-120"/>
              </a:rPr>
              <a:t>STRATEGY AI BOT FRAMEWORK</a:t>
            </a:r>
            <a:endParaRPr lang="en-US" sz="900" dirty="0"/>
          </a:p>
        </p:txBody>
      </p:sp>
      <p:sp>
        <p:nvSpPr>
          <p:cNvPr id="3" name="Text 1"/>
          <p:cNvSpPr/>
          <p:nvPr/>
        </p:nvSpPr>
        <p:spPr>
          <a:xfrm>
            <a:off x="548640" y="749808"/>
            <a:ext cx="11064240" cy="274320"/>
          </a:xfrm>
          <a:prstGeom prst="rect">
            <a:avLst/>
          </a:prstGeom>
          <a:noFill/>
          <a:ln/>
        </p:spPr>
        <p:txBody>
          <a:bodyPr wrap="square" lIns="0" tIns="0" rIns="0" bIns="0" rtlCol="0" anchor="ctr"/>
          <a:lstStyle/>
          <a:p>
            <a:pPr marL="0" indent="0">
              <a:buNone/>
            </a:pPr>
            <a:r>
              <a:rPr lang="en-US" sz="1100" dirty="0">
                <a:solidFill>
                  <a:srgbClr val="2E5C8A"/>
                </a:solidFill>
                <a:latin typeface="Calibri" pitchFamily="34" charset="0"/>
                <a:ea typeface="Calibri" pitchFamily="34" charset="-122"/>
                <a:cs typeface="Calibri" pitchFamily="34" charset="-120"/>
              </a:rPr>
              <a:t>Section 5  ·  Summary</a:t>
            </a:r>
            <a:endParaRPr lang="en-US" sz="1100" dirty="0"/>
          </a:p>
        </p:txBody>
      </p:sp>
      <p:sp>
        <p:nvSpPr>
          <p:cNvPr id="4" name="Text 2"/>
          <p:cNvSpPr/>
          <p:nvPr/>
        </p:nvSpPr>
        <p:spPr>
          <a:xfrm>
            <a:off x="548640" y="1051560"/>
            <a:ext cx="11064240" cy="502920"/>
          </a:xfrm>
          <a:prstGeom prst="rect">
            <a:avLst/>
          </a:prstGeom>
          <a:noFill/>
          <a:ln/>
        </p:spPr>
        <p:txBody>
          <a:bodyPr wrap="square" lIns="0" tIns="0" rIns="0" bIns="0" rtlCol="0" anchor="ctr"/>
          <a:lstStyle/>
          <a:p>
            <a:pPr marL="0" indent="0">
              <a:buNone/>
            </a:pPr>
            <a:r>
              <a:rPr lang="en-US" sz="2600" b="1" dirty="0">
                <a:solidFill>
                  <a:srgbClr val="1F3A5F"/>
                </a:solidFill>
                <a:latin typeface="Calibri" pitchFamily="34" charset="0"/>
                <a:ea typeface="Calibri" pitchFamily="34" charset="-122"/>
                <a:cs typeface="Calibri" pitchFamily="34" charset="-120"/>
              </a:rPr>
              <a:t>Summary</a:t>
            </a:r>
            <a:endParaRPr lang="en-US" sz="2600" dirty="0"/>
          </a:p>
        </p:txBody>
      </p:sp>
      <p:sp>
        <p:nvSpPr>
          <p:cNvPr id="5" name="Shape 3"/>
          <p:cNvSpPr/>
          <p:nvPr/>
        </p:nvSpPr>
        <p:spPr>
          <a:xfrm>
            <a:off x="548640" y="1627632"/>
            <a:ext cx="11064240" cy="10973"/>
          </a:xfrm>
          <a:prstGeom prst="rect">
            <a:avLst/>
          </a:prstGeom>
          <a:solidFill>
            <a:srgbClr val="D1D5DB"/>
          </a:solidFill>
          <a:ln w="12700">
            <a:solidFill>
              <a:srgbClr val="D1D5D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6400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374151"/>
                          </a:solidFill>
                          <a:latin typeface="Calibri" pitchFamily="34" charset="0"/>
                          <a:ea typeface="Calibri" pitchFamily="34" charset="-122"/>
                          <a:cs typeface="Calibri" pitchFamily="34" charset="-120"/>
                        </a:rPr>
                        <a:t>An AI-based application that performs MicroStrategy operations through a conversational interface.</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What it operates on</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200" dirty="0">
                          <a:solidFill>
                            <a:srgbClr val="374151"/>
                          </a:solidFill>
                          <a:latin typeface="Calibri" pitchFamily="34" charset="0"/>
                          <a:ea typeface="Calibri" pitchFamily="34" charset="-122"/>
                          <a:cs typeface="Calibri" pitchFamily="34" charset="-120"/>
                        </a:rPr>
                        <a:t>MicroStrategy — via the platform's REST APIs.</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1"/>
                  </a:ext>
                </a:extLst>
              </a:tr>
              <a:tr h="6400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What it covers today</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374151"/>
                          </a:solidFill>
                          <a:latin typeface="Calibri" pitchFamily="34" charset="0"/>
                          <a:ea typeface="Calibri" pitchFamily="34" charset="-122"/>
                          <a:cs typeface="Calibri" pitchFamily="34" charset="-120"/>
                        </a:rPr>
                        <a:t>25+ operational scenarios across subscriptions, cube refreshes, schedules, reports, user access, security, cache, metadata, and schema and report objects (attributes, metrics, templates).</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What the business gets</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200" dirty="0">
                          <a:solidFill>
                            <a:srgbClr val="374151"/>
                          </a:solidFill>
                          <a:latin typeface="Calibri" pitchFamily="34" charset="0"/>
                          <a:ea typeface="Calibri" pitchFamily="34" charset="-122"/>
                          <a:cs typeface="Calibri" pitchFamily="34" charset="-120"/>
                        </a:rPr>
                        <a:t>Reports delivered on time, dashboards refreshed on time, new users onboarded on time, scheduled jobs running on time.</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3"/>
                  </a:ext>
                </a:extLst>
              </a:tr>
              <a:tr h="6400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What it runs on</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374151"/>
                          </a:solidFill>
                          <a:latin typeface="Calibri" pitchFamily="34" charset="0"/>
                          <a:ea typeface="Calibri" pitchFamily="34" charset="-122"/>
                          <a:cs typeface="Calibri" pitchFamily="34" charset="-120"/>
                        </a:rPr>
                        <a:t>AWS — Amazon Bedrock, FastAPI on AWS, React, AWS WAF / IAM / Secrets Manager, Amazon CloudWatch.</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buNone/>
                      </a:pPr>
                      <a:r>
                        <a:rPr lang="en-US" sz="1200" b="1" dirty="0">
                          <a:solidFill>
                            <a:srgbClr val="1F3A5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marL="0" indent="0">
                        <a:buNone/>
                      </a:pPr>
                      <a:r>
                        <a:rPr lang="en-US" sz="1200" dirty="0">
                          <a:solidFill>
                            <a:srgbClr val="374151"/>
                          </a:solidFill>
                          <a:latin typeface="Calibri" pitchFamily="34" charset="0"/>
                          <a:ea typeface="Calibri" pitchFamily="34" charset="-122"/>
                          <a:cs typeface="Calibri" pitchFamily="34" charset="-120"/>
                        </a:rPr>
                        <a:t>In production. Expanding scope of operations covered.</a:t>
                      </a:r>
                      <a:endParaRPr lang="en-US" sz="12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extLst>
                  <a:ext uri="{0D108BD9-81ED-4DB2-BD59-A6C34878D82A}">
                    <a16:rowId xmlns:a16="http://schemas.microsoft.com/office/drawing/2014/main" val="10005"/>
                  </a:ext>
                </a:extLst>
              </a:tr>
            </a:tbl>
          </a:graphicData>
        </a:graphic>
      </p:graphicFrame>
      <p:sp>
        <p:nvSpPr>
          <p:cNvPr id="6" name="Text 4"/>
          <p:cNvSpPr/>
          <p:nvPr/>
        </p:nvSpPr>
        <p:spPr>
          <a:xfrm>
            <a:off x="548640" y="6492240"/>
            <a:ext cx="8686800" cy="228600"/>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Strategy AI BOT Framework  |  Operations and Business Deliverables</a:t>
            </a:r>
            <a:endParaRPr lang="en-US" sz="800" dirty="0"/>
          </a:p>
        </p:txBody>
      </p:sp>
      <p:sp>
        <p:nvSpPr>
          <p:cNvPr id="8" name="Text 5"/>
          <p:cNvSpPr/>
          <p:nvPr/>
        </p:nvSpPr>
        <p:spPr>
          <a:xfrm>
            <a:off x="10698480" y="6492240"/>
            <a:ext cx="914400" cy="228600"/>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Page 6 of 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821</Words>
  <Application>Microsoft Office PowerPoint</Application>
  <PresentationFormat>Widescreen</PresentationFormat>
  <Paragraphs>119</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Strategy AI BOT Framework — Operations and Business Deliverables</dc:title>
  <dc:subject>PptxGenJS Presentation</dc:subject>
  <dc:creator>PptxGenJS</dc:creator>
  <cp:lastModifiedBy>Sameet Dandawate</cp:lastModifiedBy>
  <cp:revision>1</cp:revision>
  <dcterms:created xsi:type="dcterms:W3CDTF">2026-04-28T21:12:47Z</dcterms:created>
  <dcterms:modified xsi:type="dcterms:W3CDTF">2026-04-29T13:31:26Z</dcterms:modified>
</cp:coreProperties>
</file>